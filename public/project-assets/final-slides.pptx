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726"/>
  </p:normalViewPr>
  <p:slideViewPr>
    <p:cSldViewPr snapToGrid="0">
      <p:cViewPr varScale="1">
        <p:scale>
          <a:sx n="160" d="100"/>
          <a:sy n="160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ffec938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cffec9381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cffec9381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>
          <a:extLst>
            <a:ext uri="{FF2B5EF4-FFF2-40B4-BE49-F238E27FC236}">
              <a16:creationId xmlns:a16="http://schemas.microsoft.com/office/drawing/2014/main" id="{134BACFE-DE42-AF4D-0076-C804096E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>
            <a:extLst>
              <a:ext uri="{FF2B5EF4-FFF2-40B4-BE49-F238E27FC236}">
                <a16:creationId xmlns:a16="http://schemas.microsoft.com/office/drawing/2014/main" id="{D73DF832-A8A3-B529-8560-55E3DF71C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1:notes">
            <a:extLst>
              <a:ext uri="{FF2B5EF4-FFF2-40B4-BE49-F238E27FC236}">
                <a16:creationId xmlns:a16="http://schemas.microsoft.com/office/drawing/2014/main" id="{4D1C9BAA-0F2D-AEC6-106A-86EE2BCBB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9;p1:notes">
            <a:extLst>
              <a:ext uri="{FF2B5EF4-FFF2-40B4-BE49-F238E27FC236}">
                <a16:creationId xmlns:a16="http://schemas.microsoft.com/office/drawing/2014/main" id="{456F8A14-ACCF-8D2D-97A9-7CB9FDB75A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881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afe-step-tool.lovable.app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91440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eorgia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SafeStep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92024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800"/>
              <a:buFont typeface="Calibri"/>
              <a:buNone/>
            </a:pPr>
            <a:r>
              <a:rPr lang="en-US" sz="1800" b="0" i="1" u="none" strike="noStrike" cap="none" dirty="0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AI-Powered Safety Planning for Domestic Violence Survivors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788920"/>
            <a:ext cx="3200400" cy="36576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MSIS 522  |  March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4290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E0E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DE0E8"/>
                </a:solidFill>
                <a:latin typeface="Calibri"/>
                <a:ea typeface="Calibri"/>
                <a:cs typeface="Calibri"/>
                <a:sym typeface="Calibri"/>
              </a:rPr>
              <a:t>Anushka Chougule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91840" y="34290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E0E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DE0E8"/>
                </a:solidFill>
                <a:latin typeface="Calibri"/>
                <a:ea typeface="Calibri"/>
                <a:cs typeface="Calibri"/>
                <a:sym typeface="Calibri"/>
              </a:rPr>
              <a:t>Li Huai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377647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E0E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DE0E8"/>
                </a:solidFill>
                <a:latin typeface="Calibri"/>
                <a:ea typeface="Calibri"/>
                <a:cs typeface="Calibri"/>
                <a:sym typeface="Calibri"/>
              </a:rPr>
              <a:t>Miranda Grato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91840" y="377647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DE0E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DE0E8"/>
                </a:solidFill>
                <a:latin typeface="Calibri"/>
                <a:ea typeface="Calibri"/>
                <a:cs typeface="Calibri"/>
                <a:sym typeface="Calibri"/>
              </a:rPr>
              <a:t>Rithvik Ravi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qr code with a robot and a book&#10;&#10;AI-generated content may be incorrect.">
            <a:extLst>
              <a:ext uri="{FF2B5EF4-FFF2-40B4-BE49-F238E27FC236}">
                <a16:creationId xmlns:a16="http://schemas.microsoft.com/office/drawing/2014/main" id="{24472EDC-C3A4-F8FC-6C39-304F815D5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248" y="398760"/>
            <a:ext cx="2713044" cy="3391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1942"/>
          </a:solidFill>
          <a:ln w="12700" cap="flat" cmpd="sng">
            <a:solidFill>
              <a:srgbClr val="4A1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B59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4B59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1942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4A1942"/>
                </a:solidFill>
                <a:latin typeface="Georgia"/>
                <a:ea typeface="Georgia"/>
                <a:cs typeface="Georgia"/>
                <a:sym typeface="Georgia"/>
              </a:rPr>
              <a:t>Leaving is the most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1942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4A1942"/>
                </a:solidFill>
                <a:latin typeface="Georgia"/>
                <a:ea typeface="Georgia"/>
                <a:cs typeface="Georgia"/>
                <a:sym typeface="Georgia"/>
              </a:rPr>
              <a:t>dangerous moment.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60" y="2057400"/>
            <a:ext cx="2651760" cy="2514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DE0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365760" y="2057400"/>
            <a:ext cx="2651760" cy="64008"/>
          </a:xfrm>
          <a:prstGeom prst="rect">
            <a:avLst/>
          </a:prstGeom>
          <a:solidFill>
            <a:srgbClr val="8B3A62"/>
          </a:solidFill>
          <a:ln w="12700" cap="flat" cmpd="sng">
            <a:solidFill>
              <a:srgbClr val="8B3A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7320" y="2194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457200" y="27889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194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4A1942"/>
                </a:solidFill>
                <a:latin typeface="Georgia"/>
                <a:ea typeface="Georgia"/>
                <a:cs typeface="Georgia"/>
                <a:sym typeface="Georgia"/>
              </a:rPr>
              <a:t>1 in 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33832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women in the 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experience domestic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violence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200400" y="2057400"/>
            <a:ext cx="2651760" cy="2514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DE0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200400" y="2057400"/>
            <a:ext cx="2651760" cy="64008"/>
          </a:xfrm>
          <a:prstGeom prst="rect">
            <a:avLst/>
          </a:prstGeom>
          <a:solidFill>
            <a:srgbClr val="8B3A62"/>
          </a:solidFill>
          <a:ln w="12700" cap="flat" cmpd="sng">
            <a:solidFill>
              <a:srgbClr val="8B3A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1960" y="2194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3291840" y="27889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194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4A1942"/>
                </a:solidFill>
                <a:latin typeface="Georgia"/>
                <a:ea typeface="Georgia"/>
                <a:cs typeface="Georgia"/>
                <a:sym typeface="Georgia"/>
              </a:rPr>
              <a:t>1 in 9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91840" y="33832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men in the 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experience domestic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violence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035040" y="2057400"/>
            <a:ext cx="2651760" cy="2514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DE0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035040" y="2057400"/>
            <a:ext cx="2651760" cy="64008"/>
          </a:xfrm>
          <a:prstGeom prst="rect">
            <a:avLst/>
          </a:prstGeom>
          <a:solidFill>
            <a:srgbClr val="8B3A62"/>
          </a:solidFill>
          <a:ln w="12700" cap="flat" cmpd="sng">
            <a:solidFill>
              <a:srgbClr val="8B3A6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6600" y="21945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6126480" y="278892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194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4A1942"/>
                </a:solidFill>
                <a:latin typeface="Georgia"/>
                <a:ea typeface="Georgia"/>
                <a:cs typeface="Georgia"/>
                <a:sym typeface="Georgia"/>
              </a:rPr>
              <a:t>#1 Risk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126480" y="33832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moment is planning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to leave — when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5B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5B73"/>
                </a:solidFill>
                <a:latin typeface="Calibri"/>
                <a:ea typeface="Calibri"/>
                <a:cs typeface="Calibri"/>
                <a:sym typeface="Calibri"/>
              </a:rPr>
              <a:t>abusers retaliate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1942"/>
          </a:solidFill>
          <a:ln w="12700" cap="flat" cmpd="sng">
            <a:solidFill>
              <a:srgbClr val="4A19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Existing tools — hotlines, shelter directories, generic checklists — are not discreet, not personalized, and not safe on a monitored device.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qr code with a robot and a book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6CBD8935-85C2-8722-4AA1-005A952E78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743"/>
          <a:stretch>
            <a:fillRect/>
          </a:stretch>
        </p:blipFill>
        <p:spPr>
          <a:xfrm>
            <a:off x="7086600" y="175098"/>
            <a:ext cx="1807664" cy="1790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B59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4B59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SafeStep — A lifeline in your pocket,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hidden in plain sight.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65760" y="1920240"/>
            <a:ext cx="4023360" cy="1417320"/>
          </a:xfrm>
          <a:prstGeom prst="rect">
            <a:avLst/>
          </a:prstGeom>
          <a:solidFill>
            <a:srgbClr val="8B3A62">
              <a:alpha val="25098"/>
            </a:srgbClr>
          </a:solidFill>
          <a:ln w="12700" cap="flat" cmpd="sng">
            <a:solidFill>
              <a:srgbClr val="8B3A6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65760" y="1920240"/>
            <a:ext cx="54864" cy="141732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2377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1024128" y="20299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Decoy Interface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024128" y="2423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Users choose a disguise — recipe app, notes app, budget tracker. One triple-tap reveals SafeStep.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663440" y="1920240"/>
            <a:ext cx="4023360" cy="1417320"/>
          </a:xfrm>
          <a:prstGeom prst="rect">
            <a:avLst/>
          </a:prstGeom>
          <a:solidFill>
            <a:srgbClr val="8B3A62">
              <a:alpha val="25098"/>
            </a:srgbClr>
          </a:solidFill>
          <a:ln w="12700" cap="flat" cmpd="sng">
            <a:solidFill>
              <a:srgbClr val="8B3A6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663440" y="1920240"/>
            <a:ext cx="54864" cy="141732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2377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5321808" y="20299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Safety Plan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321808" y="2423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Claude API generates a personalized, prioritized exit checklist based on a 5-question intake.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3520440"/>
            <a:ext cx="4023360" cy="1417320"/>
          </a:xfrm>
          <a:prstGeom prst="rect">
            <a:avLst/>
          </a:prstGeom>
          <a:solidFill>
            <a:srgbClr val="8B3A62">
              <a:alpha val="25098"/>
            </a:srgbClr>
          </a:solidFill>
          <a:ln w="12700" cap="flat" cmpd="sng">
            <a:solidFill>
              <a:srgbClr val="8B3A6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5760" y="3520440"/>
            <a:ext cx="54864" cy="141732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3977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1024128" y="36301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Resource Lookup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24128" y="40233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Google Places API surfaces nearby shelters, legal aid, and therapists by ZIP code.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663440" y="3520440"/>
            <a:ext cx="4023360" cy="1417320"/>
          </a:xfrm>
          <a:prstGeom prst="rect">
            <a:avLst/>
          </a:prstGeom>
          <a:solidFill>
            <a:srgbClr val="8B3A62">
              <a:alpha val="25098"/>
            </a:srgbClr>
          </a:solidFill>
          <a:ln w="12700" cap="flat" cmpd="sng">
            <a:solidFill>
              <a:srgbClr val="8B3A6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663440" y="3520440"/>
            <a:ext cx="54864" cy="141732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600" y="39776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5321808" y="36301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Quick Exit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321808" y="40233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One tap returns to the decoy screen and clears visible session state instantly.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457200" y="20116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B59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4B59F"/>
                </a:solidFill>
                <a:latin typeface="Calibri"/>
                <a:ea typeface="Calibri"/>
                <a:cs typeface="Calibri"/>
                <a:sym typeface="Calibri"/>
              </a:rPr>
              <a:t>THE DECOY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57200" y="50292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Hidden in Plain Sight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57200" y="1170432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Users choose their own disguise — SafeStep hides behind a normal-looking app on their home screen.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45820" y="1536192"/>
            <a:ext cx="1920300" cy="343680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  <a:effectLst>
            <a:outerShdw blurRad="228600" dist="76200" dir="81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804672" y="2221992"/>
            <a:ext cx="54900" cy="2742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804672" y="2560320"/>
            <a:ext cx="54900" cy="2742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2752344" y="2359152"/>
            <a:ext cx="54900" cy="3840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751076" y="1627632"/>
            <a:ext cx="109800" cy="109800"/>
          </a:xfrm>
          <a:prstGeom prst="ellipse">
            <a:avLst/>
          </a:prstGeom>
          <a:solidFill>
            <a:srgbClr val="1A1A1A"/>
          </a:solidFill>
          <a:ln w="12700" cap="flat" cmpd="sng">
            <a:solidFill>
              <a:srgbClr val="0A0A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46404" y="1682496"/>
            <a:ext cx="1719000" cy="3144000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404" y="1682496"/>
            <a:ext cx="1719072" cy="314406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485900" y="4735120"/>
            <a:ext cx="640200" cy="54900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45820" y="5082592"/>
            <a:ext cx="1920300" cy="384000"/>
          </a:xfrm>
          <a:prstGeom prst="roundRect">
            <a:avLst>
              <a:gd name="adj" fmla="val 19048"/>
            </a:avLst>
          </a:prstGeom>
          <a:solidFill>
            <a:srgbClr val="8B3A62">
              <a:alpha val="34900"/>
            </a:srgbClr>
          </a:solidFill>
          <a:ln w="9525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45820" y="5082592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Notes App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611880" y="1536192"/>
            <a:ext cx="1920300" cy="343680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  <a:effectLst>
            <a:outerShdw blurRad="228600" dist="76200" dir="81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570732" y="2221992"/>
            <a:ext cx="54900" cy="2742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570732" y="2560320"/>
            <a:ext cx="54900" cy="2742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518404" y="2359152"/>
            <a:ext cx="54900" cy="3840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517136" y="1627632"/>
            <a:ext cx="109800" cy="109800"/>
          </a:xfrm>
          <a:prstGeom prst="ellipse">
            <a:avLst/>
          </a:prstGeom>
          <a:solidFill>
            <a:srgbClr val="1A1A1A"/>
          </a:solidFill>
          <a:ln w="12700" cap="flat" cmpd="sng">
            <a:solidFill>
              <a:srgbClr val="0A0A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712464" y="1682496"/>
            <a:ext cx="1719000" cy="3144000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2464" y="1682496"/>
            <a:ext cx="1719072" cy="3144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4251960" y="4735120"/>
            <a:ext cx="640200" cy="54900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611880" y="5082592"/>
            <a:ext cx="1920300" cy="384000"/>
          </a:xfrm>
          <a:prstGeom prst="roundRect">
            <a:avLst>
              <a:gd name="adj" fmla="val 19048"/>
            </a:avLst>
          </a:prstGeom>
          <a:solidFill>
            <a:srgbClr val="8B3A62">
              <a:alpha val="34900"/>
            </a:srgbClr>
          </a:solidFill>
          <a:ln w="9525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611880" y="5082592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Recipe App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377940" y="1536192"/>
            <a:ext cx="1920300" cy="3436800"/>
          </a:xfrm>
          <a:prstGeom prst="roundRect">
            <a:avLst>
              <a:gd name="adj" fmla="val 13333"/>
            </a:avLst>
          </a:prstGeom>
          <a:solidFill>
            <a:srgbClr val="111111"/>
          </a:solidFill>
          <a:ln w="12700" cap="flat" cmpd="sng">
            <a:solidFill>
              <a:srgbClr val="2A2A2A"/>
            </a:solidFill>
            <a:prstDash val="solid"/>
            <a:round/>
            <a:headEnd type="none" w="sm" len="sm"/>
            <a:tailEnd type="none" w="sm" len="sm"/>
          </a:ln>
          <a:effectLst>
            <a:outerShdw blurRad="228600" dist="76200" dir="8100000" algn="bl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6336792" y="2221992"/>
            <a:ext cx="54900" cy="2742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336792" y="2560320"/>
            <a:ext cx="54900" cy="2742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8284464" y="2359152"/>
            <a:ext cx="54900" cy="384000"/>
          </a:xfrm>
          <a:prstGeom prst="roundRect">
            <a:avLst>
              <a:gd name="adj" fmla="val 33333"/>
            </a:avLst>
          </a:prstGeom>
          <a:solidFill>
            <a:srgbClr val="222222"/>
          </a:solidFill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283196" y="1627632"/>
            <a:ext cx="109800" cy="109800"/>
          </a:xfrm>
          <a:prstGeom prst="ellipse">
            <a:avLst/>
          </a:prstGeom>
          <a:solidFill>
            <a:srgbClr val="1A1A1A"/>
          </a:solidFill>
          <a:ln w="12700" cap="flat" cmpd="sng">
            <a:solidFill>
              <a:srgbClr val="0A0A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478524" y="1682496"/>
            <a:ext cx="1719000" cy="3144000"/>
          </a:xfrm>
          <a:prstGeom prst="rect">
            <a:avLst/>
          </a:prstGeom>
          <a:solidFill>
            <a:srgbClr val="F0F0F0"/>
          </a:solidFill>
          <a:ln w="12700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8524" y="1682496"/>
            <a:ext cx="1719072" cy="3144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7018020" y="4735120"/>
            <a:ext cx="640200" cy="54900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 w="12700" cap="flat" cmpd="sng">
            <a:solidFill>
              <a:srgbClr val="5555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377940" y="5082592"/>
            <a:ext cx="1920300" cy="384000"/>
          </a:xfrm>
          <a:prstGeom prst="roundRect">
            <a:avLst>
              <a:gd name="adj" fmla="val 19048"/>
            </a:avLst>
          </a:prstGeom>
          <a:solidFill>
            <a:srgbClr val="8B3A62">
              <a:alpha val="34900"/>
            </a:srgbClr>
          </a:solidFill>
          <a:ln w="9525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377940" y="5082592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Weather App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1942"/>
              </a:buClr>
              <a:buSzPts val="1100"/>
              <a:buFont typeface="Calibri"/>
              <a:buNone/>
            </a:pPr>
            <a:r>
              <a:rPr lang="en-US" sz="1100" b="1" i="1" u="none" strike="noStrike" cap="none">
                <a:solidFill>
                  <a:srgbClr val="4A1942"/>
                </a:solidFill>
                <a:latin typeface="Calibri"/>
                <a:ea typeface="Calibri"/>
                <a:cs typeface="Calibri"/>
                <a:sym typeface="Calibri"/>
              </a:rPr>
              <a:t>Triple-tap anywhere to reveal SafeStep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4B59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4B59F"/>
                </a:solidFill>
                <a:latin typeface="Calibri"/>
                <a:ea typeface="Calibri"/>
                <a:cs typeface="Calibri"/>
                <a:sym typeface="Calibri"/>
              </a:rPr>
              <a:t>FUTURE WORK &amp; ETHICS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57200" y="6583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Where SafeStep Goes Next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C2DDD4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868680" y="1965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Multilingual support — Spanish, Mandarin, and more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6700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868680" y="2624328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Advocate review mode — trained counselors verify AI-generated plans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32841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868680" y="3282696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Native iOS / Android app with biometric unlock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398678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868680" y="3941064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Anonymized outcome tracking to improve AI recommendations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0" y="1417320"/>
            <a:ext cx="36576" cy="3200400"/>
          </a:xfrm>
          <a:prstGeom prst="rect">
            <a:avLst/>
          </a:prstGeom>
          <a:solidFill>
            <a:srgbClr val="8B3A62">
              <a:alpha val="60000"/>
            </a:srgbClr>
          </a:solidFill>
          <a:ln w="12700" cap="flat" cmpd="sng">
            <a:solidFill>
              <a:srgbClr val="8B3A6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754880" y="14630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956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D4956A"/>
                </a:solidFill>
                <a:latin typeface="Georgia"/>
                <a:ea typeface="Georgia"/>
                <a:cs typeface="Georgia"/>
                <a:sym typeface="Georgia"/>
              </a:rPr>
              <a:t>Ethics &amp; Limitations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54880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5166360" y="19659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Stalkerware — app-level protection has limits; users advised to use trusted devices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54880" y="26700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5166360" y="262432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a legal or crisis counseling service — always routes to professionals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54880" y="332841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5166360" y="328269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responses must be trauma-informed; system prompt reviewed by DV advocates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54880" y="398678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5166360" y="394106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Anthropic high-risk compliance: AI disclosure, human review, flagging mechanism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942"/>
        </a:solidFill>
        <a:effectLst/>
      </p:bgPr>
    </p:bg>
    <p:spTree>
      <p:nvGrpSpPr>
        <p:cNvPr id="1" name="Shape 30">
          <a:extLst>
            <a:ext uri="{FF2B5EF4-FFF2-40B4-BE49-F238E27FC236}">
              <a16:creationId xmlns:a16="http://schemas.microsoft.com/office/drawing/2014/main" id="{B8B22980-7A82-DF9A-10C6-789089A4C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8763CB4E-58BB-57E7-9A1E-CA2E8FDD613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A2E979F2-09CA-0664-FBB4-CA1C7669E816}"/>
              </a:ext>
            </a:extLst>
          </p:cNvPr>
          <p:cNvSpPr/>
          <p:nvPr/>
        </p:nvSpPr>
        <p:spPr>
          <a:xfrm>
            <a:off x="548640" y="914400"/>
            <a:ext cx="5067462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eorgia"/>
              <a:buNone/>
            </a:pPr>
            <a:r>
              <a:rPr lang="en-US" sz="6600" b="1" i="0" u="none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 &amp; A</a:t>
            </a:r>
            <a:endParaRPr sz="6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45B4DB53-8B7C-AB32-1349-E493A2417098}"/>
              </a:ext>
            </a:extLst>
          </p:cNvPr>
          <p:cNvSpPr/>
          <p:nvPr/>
        </p:nvSpPr>
        <p:spPr>
          <a:xfrm>
            <a:off x="548640" y="401322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2DDD4"/>
              </a:buClr>
              <a:buSzPts val="1800"/>
              <a:buFont typeface="Calibri"/>
              <a:buNone/>
            </a:pPr>
            <a:r>
              <a:rPr lang="en-US" sz="2400" b="0" i="1" u="none" strike="noStrike" cap="none" dirty="0" err="1">
                <a:solidFill>
                  <a:srgbClr val="C2DDD4"/>
                </a:solidFill>
                <a:latin typeface="Calibri"/>
                <a:ea typeface="Calibri"/>
                <a:cs typeface="Calibri"/>
                <a:sym typeface="Calibri"/>
              </a:rPr>
              <a:t>SafeStep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qr code with a robot and a book&#10;&#10;AI-generated content may be incorrect.">
            <a:extLst>
              <a:ext uri="{FF2B5EF4-FFF2-40B4-BE49-F238E27FC236}">
                <a16:creationId xmlns:a16="http://schemas.microsoft.com/office/drawing/2014/main" id="{4090FC86-9F5C-8484-169B-8BE59B69D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752"/>
          <a:stretch>
            <a:fillRect/>
          </a:stretch>
        </p:blipFill>
        <p:spPr>
          <a:xfrm>
            <a:off x="5557855" y="1845425"/>
            <a:ext cx="2713044" cy="272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C49EB2-A3FE-9D12-C2AE-AC3389BD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26"/>
          <a:stretch>
            <a:fillRect/>
          </a:stretch>
        </p:blipFill>
        <p:spPr>
          <a:xfrm>
            <a:off x="115110" y="0"/>
            <a:ext cx="89098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45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315</Words>
  <Application>Microsoft Macintosh PowerPoint</Application>
  <PresentationFormat>On-screen Show (16:9)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Miranda S. Grato</cp:lastModifiedBy>
  <cp:revision>3</cp:revision>
  <dcterms:modified xsi:type="dcterms:W3CDTF">2026-03-15T05:13:54Z</dcterms:modified>
</cp:coreProperties>
</file>